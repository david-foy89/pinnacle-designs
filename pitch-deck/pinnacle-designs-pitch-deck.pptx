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0" y="6355080"/>
            <a:ext cx="12191040" cy="4107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9" name="Picture 2" descr=""/>
          <p:cNvPicPr/>
          <p:nvPr/>
        </p:nvPicPr>
        <p:blipFill>
          <a:blip r:embed="rId1"/>
          <a:stretch/>
        </p:blipFill>
        <p:spPr>
          <a:xfrm>
            <a:off x="3794760" y="1097280"/>
            <a:ext cx="4571280" cy="3242520"/>
          </a:xfrm>
          <a:prstGeom prst="rect">
            <a:avLst/>
          </a:prstGeom>
          <a:ln>
            <a:noFill/>
          </a:ln>
        </p:spPr>
      </p:pic>
      <p:sp>
        <p:nvSpPr>
          <p:cNvPr id="40" name="CustomShape 2"/>
          <p:cNvSpPr/>
          <p:nvPr/>
        </p:nvSpPr>
        <p:spPr>
          <a:xfrm>
            <a:off x="5086800" y="4434840"/>
            <a:ext cx="1986840" cy="30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WEB DESIGN. </a:t>
            </a:r>
            <a:r>
              <a:rPr b="1" lang="en-US" sz="1400" spc="-1" strike="noStrike">
                <a:solidFill>
                  <a:srgbClr val="60a5fa"/>
                </a:solidFill>
                <a:latin typeface="Calibri"/>
                <a:ea typeface="DejaVu Sans"/>
              </a:rPr>
              <a:t>ELEVATED.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1" name="CustomShape 3"/>
          <p:cNvSpPr/>
          <p:nvPr/>
        </p:nvSpPr>
        <p:spPr>
          <a:xfrm>
            <a:off x="2234160" y="4983480"/>
            <a:ext cx="7692480" cy="333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a1a1aa"/>
                </a:solidFill>
                <a:latin typeface="Calibri"/>
                <a:ea typeface="DejaVu Sans"/>
              </a:rPr>
              <a:t>Website-as-a-Service &amp; industry management software for East Tennessee small businesses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5157720" y="5806440"/>
            <a:ext cx="1845000" cy="27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a1a1aa"/>
                </a:solidFill>
                <a:latin typeface="Calibri"/>
                <a:ea typeface="DejaVu Sans"/>
              </a:rPr>
              <a:t>Erwin, TN · Tri-Cities · 2026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CustomShape 2"/>
          <p:cNvSpPr/>
          <p:nvPr/>
        </p:nvSpPr>
        <p:spPr>
          <a:xfrm>
            <a:off x="5206680" y="502920"/>
            <a:ext cx="1015920" cy="2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Calibri"/>
                <a:ea typeface="DejaVu Sans"/>
              </a:rPr>
              <a:t>THE PROBLEM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5" name="CustomShape 3"/>
          <p:cNvSpPr/>
          <p:nvPr/>
        </p:nvSpPr>
        <p:spPr>
          <a:xfrm>
            <a:off x="685800" y="868680"/>
            <a:ext cx="10514880" cy="638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DejaVu Sans"/>
              </a:rPr>
              <a:t>Local businesses are losing customers online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6" name="CustomShape 4"/>
          <p:cNvSpPr/>
          <p:nvPr/>
        </p:nvSpPr>
        <p:spPr>
          <a:xfrm>
            <a:off x="685800" y="1965960"/>
            <a:ext cx="10514880" cy="196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a1a1aa"/>
                </a:solidFill>
                <a:latin typeface="Calibri"/>
                <a:ea typeface="DejaVu Sans"/>
              </a:rPr>
              <a:t>Many shops rely only on Facebook — no owned digital storefront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a1a1aa"/>
                </a:solidFill>
                <a:latin typeface="Calibri"/>
                <a:ea typeface="DejaVu Sans"/>
              </a:rPr>
              <a:t>Outdated websites hurt credibility and fail on mobile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a1a1aa"/>
                </a:solidFill>
                <a:latin typeface="Calibri"/>
                <a:ea typeface="DejaVu Sans"/>
              </a:rPr>
              <a:t>Traditional agencies charge $3,000–$10,000+ upfront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a1a1aa"/>
                </a:solidFill>
                <a:latin typeface="Calibri"/>
                <a:ea typeface="DejaVu Sans"/>
              </a:rPr>
              <a:t>Owners are left to update hosting, security, and content themselves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a1a1aa"/>
                </a:solidFill>
                <a:latin typeface="Calibri"/>
                <a:ea typeface="DejaVu Sans"/>
              </a:rPr>
              <a:t>Generic software stacks don't fit how local industries actually operate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7" name="CustomShape 5"/>
          <p:cNvSpPr/>
          <p:nvPr/>
        </p:nvSpPr>
        <p:spPr>
          <a:xfrm>
            <a:off x="5298840" y="6446520"/>
            <a:ext cx="1288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1a1aa"/>
                </a:solidFill>
                <a:latin typeface="Calibri"/>
                <a:ea typeface="DejaVu Sans"/>
              </a:rPr>
              <a:t>pinnacle-designs.com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CustomShape 2"/>
          <p:cNvSpPr/>
          <p:nvPr/>
        </p:nvSpPr>
        <p:spPr>
          <a:xfrm>
            <a:off x="4931640" y="502920"/>
            <a:ext cx="1566000" cy="2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Calibri"/>
                <a:ea typeface="DejaVu Sans"/>
              </a:rPr>
              <a:t>MARKET OPPORTUNITY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0" name="CustomShape 3"/>
          <p:cNvSpPr/>
          <p:nvPr/>
        </p:nvSpPr>
        <p:spPr>
          <a:xfrm>
            <a:off x="685800" y="868680"/>
            <a:ext cx="10514880" cy="577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East Tennessee's under served small-business market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51" name="CustomShape 4"/>
          <p:cNvSpPr/>
          <p:nvPr/>
        </p:nvSpPr>
        <p:spPr>
          <a:xfrm>
            <a:off x="685800" y="1965960"/>
            <a:ext cx="10514880" cy="189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DejaVu Sans"/>
              </a:rPr>
              <a:t>Target: </a:t>
            </a:r>
            <a:r>
              <a:rPr b="0" lang="en-US" sz="1700" spc="-1" strike="noStrike">
                <a:solidFill>
                  <a:srgbClr val="a1a1aa"/>
                </a:solidFill>
                <a:latin typeface="Calibri"/>
                <a:ea typeface="DejaVu Sans"/>
              </a:rPr>
              <a:t>plumbers, HVAC, roofers, restaurants, boutiques, and professional services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DejaVu Sans"/>
              </a:rPr>
              <a:t>Service area: </a:t>
            </a:r>
            <a:r>
              <a:rPr b="0" lang="en-US" sz="1700" spc="-1" strike="noStrike">
                <a:solidFill>
                  <a:srgbClr val="a1a1aa"/>
                </a:solidFill>
                <a:latin typeface="Calibri"/>
                <a:ea typeface="DejaVu Sans"/>
              </a:rPr>
              <a:t>Erwin, Unicoi County, Johnson City, Jonesborough, Kingsport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DejaVu Sans"/>
              </a:rPr>
              <a:t>High-intent local search: </a:t>
            </a:r>
            <a:r>
              <a:rPr b="0" lang="en-US" sz="1700" spc="-1" strike="noStrike">
                <a:solidFill>
                  <a:srgbClr val="a1a1aa"/>
                </a:solidFill>
                <a:latin typeface="Calibri"/>
                <a:ea typeface="DejaVu Sans"/>
              </a:rPr>
              <a:t>“web design Erwin TN,” “affordable web developer Johnson City”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a1a1aa"/>
                </a:solidFill>
                <a:latin typeface="Calibri"/>
                <a:ea typeface="DejaVu Sans"/>
              </a:rPr>
              <a:t>WaaS model lowers barrier to entry and creates predictable recurring revenue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DejaVu Sans"/>
              </a:rPr>
              <a:t>Expansion path: </a:t>
            </a:r>
            <a:r>
              <a:rPr b="0" lang="en-US" sz="1700" spc="-1" strike="noStrike">
                <a:solidFill>
                  <a:srgbClr val="a1a1aa"/>
                </a:solidFill>
                <a:latin typeface="Calibri"/>
                <a:ea typeface="DejaVu Sans"/>
              </a:rPr>
              <a:t>industry-specific management software beyond websites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2" name="CustomShape 5"/>
          <p:cNvSpPr/>
          <p:nvPr/>
        </p:nvSpPr>
        <p:spPr>
          <a:xfrm>
            <a:off x="5298840" y="6446520"/>
            <a:ext cx="1288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1a1aa"/>
                </a:solidFill>
                <a:latin typeface="Calibri"/>
                <a:ea typeface="DejaVu Sans"/>
              </a:rPr>
              <a:t>pinnacle-designs.com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CustomShape 2"/>
          <p:cNvSpPr/>
          <p:nvPr/>
        </p:nvSpPr>
        <p:spPr>
          <a:xfrm>
            <a:off x="5173920" y="502920"/>
            <a:ext cx="1081440" cy="2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Calibri"/>
                <a:ea typeface="DejaVu Sans"/>
              </a:rPr>
              <a:t>OUR SOLUTION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" name="CustomShape 3"/>
          <p:cNvSpPr/>
          <p:nvPr/>
        </p:nvSpPr>
        <p:spPr>
          <a:xfrm>
            <a:off x="685800" y="868680"/>
            <a:ext cx="10514880" cy="60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Website-as-a-Service (WaaS)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56" name="CustomShape 4"/>
          <p:cNvSpPr/>
          <p:nvPr/>
        </p:nvSpPr>
        <p:spPr>
          <a:xfrm>
            <a:off x="685800" y="1783080"/>
            <a:ext cx="10514880" cy="842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alibri"/>
                <a:ea typeface="DejaVu Sans"/>
              </a:rPr>
              <a:t>Pinnacle Designs builds conversion-focused websites for local businesses — then acts as the outsourced webmaster: hosting, SSL, security, SEO, and done-for-you updates every month.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57" name="CustomShape 5"/>
          <p:cNvSpPr/>
          <p:nvPr/>
        </p:nvSpPr>
        <p:spPr>
          <a:xfrm>
            <a:off x="685800" y="3063240"/>
            <a:ext cx="10514880" cy="150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a1a1aa"/>
                </a:solidFill>
                <a:latin typeface="Calibri"/>
                <a:ea typeface="DejaVu Sans"/>
              </a:rPr>
              <a:t>Small down payment + flat monthly subscription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a1a1aa"/>
                </a:solidFill>
                <a:latin typeface="Calibri"/>
                <a:ea typeface="DejaVu Sans"/>
              </a:rPr>
              <a:t>Text us when prices or photos change — we handle the rest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a1a1aa"/>
                </a:solidFill>
                <a:latin typeface="Calibri"/>
                <a:ea typeface="DejaVu Sans"/>
              </a:rPr>
              <a:t>Continuous maintenance so sites never go stale in ~2 years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a1a1aa"/>
                </a:solidFill>
                <a:latin typeface="Calibri"/>
                <a:ea typeface="DejaVu Sans"/>
              </a:rPr>
              <a:t>Zero tech headaches for the business owner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8" name="CustomShape 6"/>
          <p:cNvSpPr/>
          <p:nvPr/>
        </p:nvSpPr>
        <p:spPr>
          <a:xfrm>
            <a:off x="5298840" y="6446520"/>
            <a:ext cx="1288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1a1aa"/>
                </a:solidFill>
                <a:latin typeface="Calibri"/>
                <a:ea typeface="DejaVu Sans"/>
              </a:rPr>
              <a:t>pinnacle-designs.com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ustomShap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CustomShape 2"/>
          <p:cNvSpPr/>
          <p:nvPr/>
        </p:nvSpPr>
        <p:spPr>
          <a:xfrm>
            <a:off x="5171400" y="502920"/>
            <a:ext cx="1086120" cy="2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Calibri"/>
                <a:ea typeface="DejaVu Sans"/>
              </a:rPr>
              <a:t>WHY PINNACLE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1" name="CustomShape 3"/>
          <p:cNvSpPr/>
          <p:nvPr/>
        </p:nvSpPr>
        <p:spPr>
          <a:xfrm>
            <a:off x="685800" y="868680"/>
            <a:ext cx="10514880" cy="577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The old way vs. the Pinnacle way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2" name="CustomShape 4"/>
          <p:cNvSpPr/>
          <p:nvPr/>
        </p:nvSpPr>
        <p:spPr>
          <a:xfrm>
            <a:off x="685800" y="1828800"/>
            <a:ext cx="5257080" cy="4205520"/>
          </a:xfrm>
          <a:prstGeom prst="roundRect">
            <a:avLst>
              <a:gd name="adj" fmla="val 16667"/>
            </a:avLst>
          </a:prstGeom>
          <a:solidFill>
            <a:srgbClr val="0f1018"/>
          </a:solidFill>
          <a:ln>
            <a:solidFill>
              <a:srgbClr val="5050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a1a1aa"/>
                </a:solidFill>
                <a:latin typeface="Calibri"/>
                <a:ea typeface="DejaVu Sans"/>
              </a:rPr>
              <a:t>Traditional Agencies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a1a1aa"/>
                </a:solidFill>
                <a:latin typeface="Calibri"/>
                <a:ea typeface="DejaVu Sans"/>
              </a:rPr>
              <a:t>✗  </a:t>
            </a:r>
            <a:r>
              <a:rPr b="0" lang="en-US" sz="1400" spc="-1" strike="noStrike">
                <a:solidFill>
                  <a:srgbClr val="a1a1aa"/>
                </a:solidFill>
                <a:latin typeface="Calibri"/>
                <a:ea typeface="DejaVu Sans"/>
              </a:rPr>
              <a:t>Huge $3,000+ upfront cost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a1a1aa"/>
                </a:solidFill>
                <a:latin typeface="Calibri"/>
                <a:ea typeface="DejaVu Sans"/>
              </a:rPr>
              <a:t>✗  </a:t>
            </a:r>
            <a:r>
              <a:rPr b="0" lang="en-US" sz="1400" spc="-1" strike="noStrike">
                <a:solidFill>
                  <a:srgbClr val="a1a1aa"/>
                </a:solidFill>
                <a:latin typeface="Calibri"/>
                <a:ea typeface="DejaVu Sans"/>
              </a:rPr>
              <a:t>You update the site yourself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a1a1aa"/>
                </a:solidFill>
                <a:latin typeface="Calibri"/>
                <a:ea typeface="DejaVu Sans"/>
              </a:rPr>
              <a:t>✗  </a:t>
            </a:r>
            <a:r>
              <a:rPr b="0" lang="en-US" sz="1400" spc="-1" strike="noStrike">
                <a:solidFill>
                  <a:srgbClr val="a1a1aa"/>
                </a:solidFill>
                <a:latin typeface="Calibri"/>
                <a:ea typeface="DejaVu Sans"/>
              </a:rPr>
              <a:t>Pay extra for hosting &amp; security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a1a1aa"/>
                </a:solidFill>
                <a:latin typeface="Calibri"/>
                <a:ea typeface="DejaVu Sans"/>
              </a:rPr>
              <a:t>✗  </a:t>
            </a:r>
            <a:r>
              <a:rPr b="0" lang="en-US" sz="1400" spc="-1" strike="noStrike">
                <a:solidFill>
                  <a:srgbClr val="a1a1aa"/>
                </a:solidFill>
                <a:latin typeface="Calibri"/>
                <a:ea typeface="DejaVu Sans"/>
              </a:rPr>
              <a:t>Site goes out of date in ~2 years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3" name="CustomShape 5"/>
          <p:cNvSpPr/>
          <p:nvPr/>
        </p:nvSpPr>
        <p:spPr>
          <a:xfrm>
            <a:off x="6263640" y="1828800"/>
            <a:ext cx="5257080" cy="4205520"/>
          </a:xfrm>
          <a:prstGeom prst="roundRect">
            <a:avLst>
              <a:gd name="adj" fmla="val 16667"/>
            </a:avLst>
          </a:prstGeom>
          <a:solidFill>
            <a:srgbClr val="0a0a0f"/>
          </a:solidFill>
          <a:ln>
            <a:solidFill>
              <a:srgbClr val="3b82f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60a5fa"/>
                </a:solidFill>
                <a:latin typeface="Calibri"/>
                <a:ea typeface="DejaVu Sans"/>
              </a:rPr>
              <a:t>Pinnacle Designs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Affordable down payment from $500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We make updates for you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Hosting &amp; security included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✓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Continuously maintained &amp; modern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4" name="CustomShape 6"/>
          <p:cNvSpPr/>
          <p:nvPr/>
        </p:nvSpPr>
        <p:spPr>
          <a:xfrm>
            <a:off x="5298840" y="6446520"/>
            <a:ext cx="1288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1a1aa"/>
                </a:solidFill>
                <a:latin typeface="Calibri"/>
                <a:ea typeface="DejaVu Sans"/>
              </a:rPr>
              <a:t>pinnacle-designs.com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ustomShap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CustomShape 2"/>
          <p:cNvSpPr/>
          <p:nvPr/>
        </p:nvSpPr>
        <p:spPr>
          <a:xfrm>
            <a:off x="5029200" y="502920"/>
            <a:ext cx="1370880" cy="2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Calibri"/>
                <a:ea typeface="DejaVu Sans"/>
              </a:rPr>
              <a:t>SERVICES &amp; PRICING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7" name="CustomShape 3"/>
          <p:cNvSpPr/>
          <p:nvPr/>
        </p:nvSpPr>
        <p:spPr>
          <a:xfrm>
            <a:off x="685800" y="868680"/>
            <a:ext cx="10514880" cy="577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Three plans. One simple model.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8" name="CustomShape 4"/>
          <p:cNvSpPr/>
          <p:nvPr/>
        </p:nvSpPr>
        <p:spPr>
          <a:xfrm>
            <a:off x="685800" y="1828800"/>
            <a:ext cx="3519720" cy="4296960"/>
          </a:xfrm>
          <a:prstGeom prst="roundRect">
            <a:avLst>
              <a:gd name="adj" fmla="val 16667"/>
            </a:avLst>
          </a:prstGeom>
          <a:solidFill>
            <a:srgbClr val="0f1018"/>
          </a:solidFill>
          <a:ln w="12600">
            <a:solidFill>
              <a:srgbClr val="3c3c4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45000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Base Camp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New businesses &amp; contractors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$500 down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+ $99/mo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3–5 page site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Basic SEO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Hosting &amp; SSL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1 hr/mo updates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9" name="CustomShape 5"/>
          <p:cNvSpPr/>
          <p:nvPr/>
        </p:nvSpPr>
        <p:spPr>
          <a:xfrm>
            <a:off x="4343400" y="1828800"/>
            <a:ext cx="3519720" cy="4296960"/>
          </a:xfrm>
          <a:prstGeom prst="roundRect">
            <a:avLst>
              <a:gd name="adj" fmla="val 16667"/>
            </a:avLst>
          </a:prstGeom>
          <a:solidFill>
            <a:srgbClr val="0a0a0f"/>
          </a:solidFill>
          <a:ln w="25560">
            <a:solidFill>
              <a:srgbClr val="3b82f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45000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60a5fa"/>
                </a:solidFill>
                <a:latin typeface="Calibri"/>
                <a:ea typeface="DejaVu Sans"/>
              </a:rPr>
              <a:t>Ascent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Established local shops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$1,000 down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+ $199/mo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Up to 10 pages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Google Business Profile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Analytic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2 hrs/mo updates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0" name="CustomShape 6"/>
          <p:cNvSpPr/>
          <p:nvPr/>
        </p:nvSpPr>
        <p:spPr>
          <a:xfrm>
            <a:off x="8001000" y="1828800"/>
            <a:ext cx="3519720" cy="4296960"/>
          </a:xfrm>
          <a:prstGeom prst="roundRect">
            <a:avLst>
              <a:gd name="adj" fmla="val 16667"/>
            </a:avLst>
          </a:prstGeom>
          <a:solidFill>
            <a:srgbClr val="0f1018"/>
          </a:solidFill>
          <a:ln w="12600">
            <a:solidFill>
              <a:srgbClr val="3c3c4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45000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Summit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Retailers selling online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$2,500+ down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+ $299+/mo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Full store setup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Payment gateways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Priority support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Catalog updates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1" name="CustomShape 7"/>
          <p:cNvSpPr/>
          <p:nvPr/>
        </p:nvSpPr>
        <p:spPr>
          <a:xfrm>
            <a:off x="3918240" y="6263640"/>
            <a:ext cx="4507200" cy="2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1a1aa"/>
                </a:solidFill>
                <a:latin typeface="Calibri"/>
                <a:ea typeface="DejaVu Sans"/>
              </a:rPr>
              <a:t>Design fee + monthly retainer. Larger add-ons quoted separately in contract.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" name="CustomShape 8"/>
          <p:cNvSpPr/>
          <p:nvPr/>
        </p:nvSpPr>
        <p:spPr>
          <a:xfrm>
            <a:off x="5298840" y="6446520"/>
            <a:ext cx="1288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1a1aa"/>
                </a:solidFill>
                <a:latin typeface="Calibri"/>
                <a:ea typeface="DejaVu Sans"/>
              </a:rPr>
              <a:t>pinnacle-designs.com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ustomShap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CustomShape 2"/>
          <p:cNvSpPr/>
          <p:nvPr/>
        </p:nvSpPr>
        <p:spPr>
          <a:xfrm>
            <a:off x="5068800" y="502920"/>
            <a:ext cx="1291680" cy="2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Calibri"/>
                <a:ea typeface="DejaVu Sans"/>
              </a:rPr>
              <a:t>CLIENT OUTCOMES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5" name="CustomShape 3"/>
          <p:cNvSpPr/>
          <p:nvPr/>
        </p:nvSpPr>
        <p:spPr>
          <a:xfrm>
            <a:off x="685800" y="868680"/>
            <a:ext cx="10514880" cy="60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What clients get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76" name="CustomShape 4"/>
          <p:cNvSpPr/>
          <p:nvPr/>
        </p:nvSpPr>
        <p:spPr>
          <a:xfrm>
            <a:off x="685800" y="1920240"/>
            <a:ext cx="3519720" cy="2925360"/>
          </a:xfrm>
          <a:prstGeom prst="roundRect">
            <a:avLst>
              <a:gd name="adj" fmla="val 16667"/>
            </a:avLst>
          </a:prstGeom>
          <a:solidFill>
            <a:srgbClr val="0f1018"/>
          </a:solidFill>
          <a:ln>
            <a:solidFill>
              <a:srgbClr val="3b82f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60a5fa"/>
                </a:solidFill>
                <a:latin typeface="Calibri"/>
                <a:ea typeface="DejaVu Sans"/>
              </a:rPr>
              <a:t>◆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Never worry about hacks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1a1aa"/>
                </a:solidFill>
                <a:latin typeface="Calibri"/>
                <a:ea typeface="DejaVu Sans"/>
              </a:rPr>
              <a:t>Security scanning and managed hosting — protected without thinking about it.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7" name="CustomShape 5"/>
          <p:cNvSpPr/>
          <p:nvPr/>
        </p:nvSpPr>
        <p:spPr>
          <a:xfrm>
            <a:off x="4434840" y="1920240"/>
            <a:ext cx="3519720" cy="2925360"/>
          </a:xfrm>
          <a:prstGeom prst="roundRect">
            <a:avLst>
              <a:gd name="adj" fmla="val 16667"/>
            </a:avLst>
          </a:prstGeom>
          <a:solidFill>
            <a:srgbClr val="0f1018"/>
          </a:solidFill>
          <a:ln>
            <a:solidFill>
              <a:srgbClr val="3b82f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60a5fa"/>
                </a:solidFill>
                <a:latin typeface="Calibri"/>
                <a:ea typeface="DejaVu Sans"/>
              </a:rPr>
              <a:t>◆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Show up locally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1a1aa"/>
                </a:solidFill>
                <a:latin typeface="Calibri"/>
                <a:ea typeface="DejaVu Sans"/>
              </a:rPr>
              <a:t>Mobile-friendly design and SEO for Unicoi County and the Tri-Cities.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8" name="CustomShape 6"/>
          <p:cNvSpPr/>
          <p:nvPr/>
        </p:nvSpPr>
        <p:spPr>
          <a:xfrm>
            <a:off x="8183880" y="1920240"/>
            <a:ext cx="3519720" cy="2925360"/>
          </a:xfrm>
          <a:prstGeom prst="roundRect">
            <a:avLst>
              <a:gd name="adj" fmla="val 16667"/>
            </a:avLst>
          </a:prstGeom>
          <a:solidFill>
            <a:srgbClr val="0f1018"/>
          </a:solidFill>
          <a:ln>
            <a:solidFill>
              <a:srgbClr val="3b82f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60a5fa"/>
                </a:solidFill>
                <a:latin typeface="Calibri"/>
                <a:ea typeface="DejaVu Sans"/>
              </a:rPr>
              <a:t>◆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Unlimited peace of mind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1a1aa"/>
                </a:solidFill>
                <a:latin typeface="Calibri"/>
                <a:ea typeface="DejaVu Sans"/>
              </a:rPr>
              <a:t>Monthly updates keep menus, services, and promotions current.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9" name="CustomShape 7"/>
          <p:cNvSpPr/>
          <p:nvPr/>
        </p:nvSpPr>
        <p:spPr>
          <a:xfrm>
            <a:off x="685800" y="5074920"/>
            <a:ext cx="10834920" cy="822240"/>
          </a:xfrm>
          <a:prstGeom prst="roundRect">
            <a:avLst>
              <a:gd name="adj" fmla="val 16667"/>
            </a:avLst>
          </a:prstGeom>
          <a:solidFill>
            <a:srgbClr val="0a0a0f"/>
          </a:solidFill>
          <a:ln>
            <a:solidFill>
              <a:srgbClr val="818cf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If you don't love the design we present, you don't pay the down payment. Zero risk to get started.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0" name="CustomShape 8"/>
          <p:cNvSpPr/>
          <p:nvPr/>
        </p:nvSpPr>
        <p:spPr>
          <a:xfrm>
            <a:off x="5298840" y="6446520"/>
            <a:ext cx="1288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1a1aa"/>
                </a:solidFill>
                <a:latin typeface="Calibri"/>
                <a:ea typeface="DejaVu Sans"/>
              </a:rPr>
              <a:t>pinnacle-designs.com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CustomShape 2"/>
          <p:cNvSpPr/>
          <p:nvPr/>
        </p:nvSpPr>
        <p:spPr>
          <a:xfrm>
            <a:off x="4468320" y="502920"/>
            <a:ext cx="2492640" cy="2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Calibri"/>
                <a:ea typeface="DejaVu Sans"/>
              </a:rPr>
              <a:t>GROWTH — MANAGEMENT SOFTWARE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CustomShape 3"/>
          <p:cNvSpPr/>
          <p:nvPr/>
        </p:nvSpPr>
        <p:spPr>
          <a:xfrm>
            <a:off x="685800" y="868680"/>
            <a:ext cx="10514880" cy="54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DejaVu Sans"/>
              </a:rPr>
              <a:t>Beyond websites: tools built per industry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84" name="CustomShape 4"/>
          <p:cNvSpPr/>
          <p:nvPr/>
        </p:nvSpPr>
        <p:spPr>
          <a:xfrm>
            <a:off x="685800" y="1691640"/>
            <a:ext cx="10514880" cy="76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en-US" sz="1700" spc="-1" strike="noStrike">
                <a:solidFill>
                  <a:srgbClr val="a1a1aa"/>
                </a:solidFill>
                <a:latin typeface="Calibri"/>
                <a:ea typeface="DejaVu Sans"/>
              </a:rPr>
              <a:t>In active development — industry-specific management software so local businesses handle jobs, customers, and operations without juggling a dozen apps.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85" name="CustomShape 5"/>
          <p:cNvSpPr/>
          <p:nvPr/>
        </p:nvSpPr>
        <p:spPr>
          <a:xfrm>
            <a:off x="685800" y="2606040"/>
            <a:ext cx="5257080" cy="1416600"/>
          </a:xfrm>
          <a:prstGeom prst="roundRect">
            <a:avLst>
              <a:gd name="adj" fmla="val 16667"/>
            </a:avLst>
          </a:prstGeom>
          <a:solidFill>
            <a:srgbClr val="0f1018"/>
          </a:solidFill>
          <a:ln>
            <a:solidFill>
              <a:srgbClr val="32323c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3716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60a5fa"/>
                </a:solidFill>
                <a:latin typeface="Calibri"/>
                <a:ea typeface="DejaVu Sans"/>
              </a:rPr>
              <a:t>Home Services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1a1aa"/>
                </a:solidFill>
                <a:latin typeface="Calibri"/>
                <a:ea typeface="DejaVu Sans"/>
              </a:rPr>
              <a:t>Scheduling, customer records, follow-ups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6" name="CustomShape 6"/>
          <p:cNvSpPr/>
          <p:nvPr/>
        </p:nvSpPr>
        <p:spPr>
          <a:xfrm>
            <a:off x="6263640" y="2606040"/>
            <a:ext cx="5257080" cy="1416600"/>
          </a:xfrm>
          <a:prstGeom prst="roundRect">
            <a:avLst>
              <a:gd name="adj" fmla="val 16667"/>
            </a:avLst>
          </a:prstGeom>
          <a:solidFill>
            <a:srgbClr val="0f1018"/>
          </a:solidFill>
          <a:ln>
            <a:solidFill>
              <a:srgbClr val="32323c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3716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60a5fa"/>
                </a:solidFill>
                <a:latin typeface="Calibri"/>
                <a:ea typeface="DejaVu Sans"/>
              </a:rPr>
              <a:t>Retail &amp; Boutiques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1a1aa"/>
                </a:solidFill>
                <a:latin typeface="Calibri"/>
                <a:ea typeface="DejaVu Sans"/>
              </a:rPr>
              <a:t>Inventory, customers, sales tracking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7" name="CustomShape 7"/>
          <p:cNvSpPr/>
          <p:nvPr/>
        </p:nvSpPr>
        <p:spPr>
          <a:xfrm>
            <a:off x="685800" y="4297680"/>
            <a:ext cx="5257080" cy="1416600"/>
          </a:xfrm>
          <a:prstGeom prst="roundRect">
            <a:avLst>
              <a:gd name="adj" fmla="val 16667"/>
            </a:avLst>
          </a:prstGeom>
          <a:solidFill>
            <a:srgbClr val="0f1018"/>
          </a:solidFill>
          <a:ln>
            <a:solidFill>
              <a:srgbClr val="32323c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3716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60a5fa"/>
                </a:solidFill>
                <a:latin typeface="Calibri"/>
                <a:ea typeface="DejaVu Sans"/>
              </a:rPr>
              <a:t>Restaurants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1a1aa"/>
                </a:solidFill>
                <a:latin typeface="Calibri"/>
                <a:ea typeface="DejaVu Sans"/>
              </a:rPr>
              <a:t>Menus, order flow, staff coordination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8" name="CustomShape 8"/>
          <p:cNvSpPr/>
          <p:nvPr/>
        </p:nvSpPr>
        <p:spPr>
          <a:xfrm>
            <a:off x="6263640" y="4297680"/>
            <a:ext cx="5257080" cy="1416600"/>
          </a:xfrm>
          <a:prstGeom prst="roundRect">
            <a:avLst>
              <a:gd name="adj" fmla="val 16667"/>
            </a:avLst>
          </a:prstGeom>
          <a:solidFill>
            <a:srgbClr val="0f1018"/>
          </a:solidFill>
          <a:ln>
            <a:solidFill>
              <a:srgbClr val="32323c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3716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60a5fa"/>
                </a:solidFill>
                <a:latin typeface="Calibri"/>
                <a:ea typeface="DejaVu Sans"/>
              </a:rPr>
              <a:t>Professional Services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1a1aa"/>
                </a:solidFill>
                <a:latin typeface="Calibri"/>
                <a:ea typeface="DejaVu Sans"/>
              </a:rPr>
              <a:t>Intake, booking, project tracking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9" name="CustomShape 9"/>
          <p:cNvSpPr/>
          <p:nvPr/>
        </p:nvSpPr>
        <p:spPr>
          <a:xfrm>
            <a:off x="1507680" y="5989320"/>
            <a:ext cx="2927520" cy="2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Calibri"/>
                <a:ea typeface="DejaVu Sans"/>
              </a:rPr>
              <a:t>IN DEVELOPMENT — Early access wait list open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0" name="CustomShape 10"/>
          <p:cNvSpPr/>
          <p:nvPr/>
        </p:nvSpPr>
        <p:spPr>
          <a:xfrm>
            <a:off x="5298840" y="6446520"/>
            <a:ext cx="1288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1a1aa"/>
                </a:solidFill>
                <a:latin typeface="Calibri"/>
                <a:ea typeface="DejaVu Sans"/>
              </a:rPr>
              <a:t>pinnacle-designs.com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CustomShape 2"/>
          <p:cNvSpPr/>
          <p:nvPr/>
        </p:nvSpPr>
        <p:spPr>
          <a:xfrm>
            <a:off x="5109120" y="502920"/>
            <a:ext cx="1211040" cy="2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Calibri"/>
                <a:ea typeface="DejaVu Sans"/>
              </a:rPr>
              <a:t>BUSINESS MODEL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3" name="CustomShape 3"/>
          <p:cNvSpPr/>
          <p:nvPr/>
        </p:nvSpPr>
        <p:spPr>
          <a:xfrm>
            <a:off x="685800" y="868680"/>
            <a:ext cx="10514880" cy="577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Predictable revenue, low client friction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94" name="CustomShape 4"/>
          <p:cNvSpPr/>
          <p:nvPr/>
        </p:nvSpPr>
        <p:spPr>
          <a:xfrm>
            <a:off x="685800" y="1920240"/>
            <a:ext cx="10514880" cy="218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Revenue stream 1: </a:t>
            </a:r>
            <a:r>
              <a:rPr b="0" lang="en-US" sz="1600" spc="-1" strike="noStrike">
                <a:solidFill>
                  <a:srgbClr val="a1a1aa"/>
                </a:solidFill>
                <a:latin typeface="Calibri"/>
                <a:ea typeface="DejaVu Sans"/>
              </a:rPr>
              <a:t>One-time design &amp; setup fees ($500 – $2,500+)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Revenue stream 2: </a:t>
            </a:r>
            <a:r>
              <a:rPr b="0" lang="en-US" sz="1600" spc="-1" strike="noStrike">
                <a:solidFill>
                  <a:srgbClr val="a1a1aa"/>
                </a:solidFill>
                <a:latin typeface="Calibri"/>
                <a:ea typeface="DejaVu Sans"/>
              </a:rPr>
              <a:t>Recurring monthly management ($99 – $299+/mo)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Revenue stream 3: </a:t>
            </a:r>
            <a:r>
              <a:rPr b="0" lang="en-US" sz="1600" spc="-1" strike="noStrike">
                <a:solidFill>
                  <a:srgbClr val="a1a1aa"/>
                </a:solidFill>
                <a:latin typeface="Calibri"/>
                <a:ea typeface="DejaVu Sans"/>
              </a:rPr>
              <a:t>Out-of-scope projects (new pages, integration, e-commerce add-ons)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Revenue stream 4 (future): </a:t>
            </a:r>
            <a:r>
              <a:rPr b="0" lang="en-US" sz="1600" spc="-1" strike="noStrike">
                <a:solidFill>
                  <a:srgbClr val="a1a1aa"/>
                </a:solidFill>
                <a:latin typeface="Calibri"/>
                <a:ea typeface="DejaVu Sans"/>
              </a:rPr>
              <a:t>Management software subscriptions by vertical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Low CAC: </a:t>
            </a:r>
            <a:r>
              <a:rPr b="0" lang="en-US" sz="1600" spc="-1" strike="noStrike">
                <a:solidFill>
                  <a:srgbClr val="a1a1aa"/>
                </a:solidFill>
                <a:latin typeface="Calibri"/>
                <a:ea typeface="DejaVu Sans"/>
              </a:rPr>
              <a:t>Local SEO, referrals, Facebook, and in-person Tri-Cities networking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High retention: </a:t>
            </a:r>
            <a:r>
              <a:rPr b="0" lang="en-US" sz="1600" spc="-1" strike="noStrike">
                <a:solidFill>
                  <a:srgbClr val="a1a1aa"/>
                </a:solidFill>
                <a:latin typeface="Calibri"/>
                <a:ea typeface="DejaVu Sans"/>
              </a:rPr>
              <a:t>Ongoing updates create sticky, long-term client relationships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5" name="CustomShape 5"/>
          <p:cNvSpPr/>
          <p:nvPr/>
        </p:nvSpPr>
        <p:spPr>
          <a:xfrm>
            <a:off x="5298840" y="6446520"/>
            <a:ext cx="1288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1a1aa"/>
                </a:solidFill>
                <a:latin typeface="Calibri"/>
                <a:ea typeface="DejaVu Sans"/>
              </a:rPr>
              <a:t>pinnacle-designs.com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CustomShape 2"/>
          <p:cNvSpPr/>
          <p:nvPr/>
        </p:nvSpPr>
        <p:spPr>
          <a:xfrm>
            <a:off x="4916160" y="502920"/>
            <a:ext cx="1596600" cy="2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Calibri"/>
                <a:ea typeface="DejaVu Sans"/>
              </a:rPr>
              <a:t>TRACTION &amp; READINESS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CustomShape 3"/>
          <p:cNvSpPr/>
          <p:nvPr/>
        </p:nvSpPr>
        <p:spPr>
          <a:xfrm>
            <a:off x="685800" y="868680"/>
            <a:ext cx="10514880" cy="60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Built to scale locally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99" name="CustomShape 4"/>
          <p:cNvSpPr/>
          <p:nvPr/>
        </p:nvSpPr>
        <p:spPr>
          <a:xfrm>
            <a:off x="685800" y="2011680"/>
            <a:ext cx="3519720" cy="1828080"/>
          </a:xfrm>
          <a:prstGeom prst="roundRect">
            <a:avLst>
              <a:gd name="adj" fmla="val 16667"/>
            </a:avLst>
          </a:prstGeom>
          <a:solidFill>
            <a:srgbClr val="0a0a0f"/>
          </a:solidFill>
          <a:ln>
            <a:solidFill>
              <a:srgbClr val="3b82f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60a5fa"/>
                </a:solidFill>
                <a:latin typeface="Calibri"/>
                <a:ea typeface="DejaVu Sans"/>
              </a:rPr>
              <a:t>$500</a:t>
            </a:r>
            <a:endParaRPr b="0" lang="en-US" sz="3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a1a1aa"/>
                </a:solidFill>
                <a:latin typeface="Calibri"/>
                <a:ea typeface="DejaVu Sans"/>
              </a:rPr>
              <a:t>Starting down payment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0" name="CustomShape 5"/>
          <p:cNvSpPr/>
          <p:nvPr/>
        </p:nvSpPr>
        <p:spPr>
          <a:xfrm>
            <a:off x="4434840" y="2011680"/>
            <a:ext cx="3519720" cy="1828080"/>
          </a:xfrm>
          <a:prstGeom prst="roundRect">
            <a:avLst>
              <a:gd name="adj" fmla="val 16667"/>
            </a:avLst>
          </a:prstGeom>
          <a:solidFill>
            <a:srgbClr val="0a0a0f"/>
          </a:solidFill>
          <a:ln>
            <a:solidFill>
              <a:srgbClr val="3b82f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60a5fa"/>
                </a:solidFill>
                <a:latin typeface="Calibri"/>
                <a:ea typeface="DejaVu Sans"/>
              </a:rPr>
              <a:t>24/7</a:t>
            </a:r>
            <a:endParaRPr b="0" lang="en-US" sz="3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a1a1aa"/>
                </a:solidFill>
                <a:latin typeface="Calibri"/>
                <a:ea typeface="DejaVu Sans"/>
              </a:rPr>
              <a:t>Digital storefront for clients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1" name="CustomShape 6"/>
          <p:cNvSpPr/>
          <p:nvPr/>
        </p:nvSpPr>
        <p:spPr>
          <a:xfrm>
            <a:off x="8183880" y="2011680"/>
            <a:ext cx="3519720" cy="1828080"/>
          </a:xfrm>
          <a:prstGeom prst="roundRect">
            <a:avLst>
              <a:gd name="adj" fmla="val 16667"/>
            </a:avLst>
          </a:prstGeom>
          <a:solidFill>
            <a:srgbClr val="0a0a0f"/>
          </a:solidFill>
          <a:ln>
            <a:solidFill>
              <a:srgbClr val="3b82f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60a5fa"/>
                </a:solidFill>
                <a:latin typeface="Calibri"/>
                <a:ea typeface="DejaVu Sans"/>
              </a:rPr>
              <a:t>0</a:t>
            </a:r>
            <a:endParaRPr b="0" lang="en-US" sz="3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a1a1aa"/>
                </a:solidFill>
                <a:latin typeface="Calibri"/>
                <a:ea typeface="DejaVu Sans"/>
              </a:rPr>
              <a:t>Tech headaches for owners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2" name="CustomShape 7"/>
          <p:cNvSpPr/>
          <p:nvPr/>
        </p:nvSpPr>
        <p:spPr>
          <a:xfrm>
            <a:off x="685800" y="4160520"/>
            <a:ext cx="10514880" cy="144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a1a1aa"/>
                </a:solidFill>
                <a:latin typeface="Calibri"/>
                <a:ea typeface="DejaVu Sans"/>
              </a:rPr>
              <a:t>Live brand &amp; marketing site at pinnacle-designs.com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a1a1aa"/>
                </a:solidFill>
                <a:latin typeface="Calibri"/>
                <a:ea typeface="DejaVu Sans"/>
              </a:rPr>
              <a:t>Contract templates ready for Base Camp, Ascent, Summit, and software beta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a1a1aa"/>
                </a:solidFill>
                <a:latin typeface="Calibri"/>
                <a:ea typeface="DejaVu Sans"/>
              </a:rPr>
              <a:t>Formspree contact pipeline and Google Analytics in place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a1a1aa"/>
                </a:solidFill>
                <a:latin typeface="Calibri"/>
                <a:ea typeface="DejaVu Sans"/>
              </a:rPr>
              <a:t>Cloudflare-hosted with SEO, FAQ schema, and local landing content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3" name="CustomShape 8"/>
          <p:cNvSpPr/>
          <p:nvPr/>
        </p:nvSpPr>
        <p:spPr>
          <a:xfrm>
            <a:off x="5298840" y="6446520"/>
            <a:ext cx="1288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1a1aa"/>
                </a:solidFill>
                <a:latin typeface="Calibri"/>
                <a:ea typeface="DejaVu Sans"/>
              </a:rPr>
              <a:t>pinnacle-designs.com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5" name="CustomShape 2"/>
          <p:cNvSpPr/>
          <p:nvPr/>
        </p:nvSpPr>
        <p:spPr>
          <a:xfrm>
            <a:off x="5381280" y="502920"/>
            <a:ext cx="666720" cy="2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Calibri"/>
                <a:ea typeface="DejaVu Sans"/>
              </a:rPr>
              <a:t>THE ASK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6" name="CustomShape 3"/>
          <p:cNvSpPr/>
          <p:nvPr/>
        </p:nvSpPr>
        <p:spPr>
          <a:xfrm>
            <a:off x="685800" y="868680"/>
            <a:ext cx="10514880" cy="60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Partner with Pinnacle Designs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07" name="CustomShape 4"/>
          <p:cNvSpPr/>
          <p:nvPr/>
        </p:nvSpPr>
        <p:spPr>
          <a:xfrm>
            <a:off x="685800" y="1920240"/>
            <a:ext cx="10514880" cy="1167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a1a1aa"/>
                </a:solidFill>
                <a:latin typeface="Calibri"/>
                <a:ea typeface="DejaVu Sans"/>
              </a:rPr>
              <a:t>For clients: Start with a free conversation — pick Base Camp, Ascent, or Summit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a1a1aa"/>
                </a:solidFill>
                <a:latin typeface="Calibri"/>
                <a:ea typeface="DejaVu Sans"/>
              </a:rPr>
              <a:t>For software beta: Request early access for your industry vertical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a1a1aa"/>
                </a:solidFill>
                <a:latin typeface="Calibri"/>
                <a:ea typeface="DejaVu Sans"/>
              </a:rPr>
              <a:t>For partners &amp; investors: Let's talk about scaling WaaS and software across East TN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" name="CustomShape 5"/>
          <p:cNvSpPr/>
          <p:nvPr/>
        </p:nvSpPr>
        <p:spPr>
          <a:xfrm>
            <a:off x="685800" y="3977640"/>
            <a:ext cx="10834920" cy="1828080"/>
          </a:xfrm>
          <a:prstGeom prst="roundRect">
            <a:avLst>
              <a:gd name="adj" fmla="val 16667"/>
            </a:avLst>
          </a:prstGeom>
          <a:solidFill>
            <a:srgbClr val="0a0a0f"/>
          </a:solidFill>
          <a:ln>
            <a:solidFill>
              <a:srgbClr val="3b82f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60a5fa"/>
                </a:solidFill>
                <a:latin typeface="Calibri"/>
                <a:ea typeface="DejaVu Sans"/>
              </a:rPr>
              <a:t>david@pinnacle-designs.com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a1a1aa"/>
                </a:solidFill>
                <a:latin typeface="Calibri"/>
                <a:ea typeface="DejaVu Sans"/>
              </a:rPr>
              <a:t>pinnacle-designs.com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a1a1aa"/>
                </a:solidFill>
                <a:latin typeface="Calibri"/>
                <a:ea typeface="DejaVu Sans"/>
              </a:rPr>
              <a:t>facebook.com/profile.php?id=61590691171007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109" name="Picture 6" descr=""/>
          <p:cNvPicPr/>
          <p:nvPr/>
        </p:nvPicPr>
        <p:blipFill>
          <a:blip r:embed="rId1"/>
          <a:stretch/>
        </p:blipFill>
        <p:spPr>
          <a:xfrm>
            <a:off x="9144000" y="664920"/>
            <a:ext cx="2285280" cy="1620720"/>
          </a:xfrm>
          <a:prstGeom prst="rect">
            <a:avLst/>
          </a:prstGeom>
          <a:ln>
            <a:noFill/>
          </a:ln>
        </p:spPr>
      </p:pic>
      <p:sp>
        <p:nvSpPr>
          <p:cNvPr id="110" name="CustomShape 6"/>
          <p:cNvSpPr/>
          <p:nvPr/>
        </p:nvSpPr>
        <p:spPr>
          <a:xfrm>
            <a:off x="457200" y="6446520"/>
            <a:ext cx="1097208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Neat_Office/6.2.8.2$Windows_x86 LibreOffice_project/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2026-06-23T14:30:53Z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